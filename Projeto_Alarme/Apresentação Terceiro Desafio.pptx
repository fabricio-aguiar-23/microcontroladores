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4" r:id="rId7"/>
    <p:sldId id="269" r:id="rId8"/>
    <p:sldId id="262" r:id="rId9"/>
    <p:sldId id="268" r:id="rId10"/>
    <p:sldId id="267" r:id="rId11"/>
    <p:sldId id="266" r:id="rId12"/>
  </p:sldIdLst>
  <p:sldSz cx="9144000" cy="5143500" type="screen16x9"/>
  <p:notesSz cx="6858000" cy="9144000"/>
  <p:embeddedFontLst>
    <p:embeddedFont>
      <p:font typeface="Epilogue" panose="020B060402020202020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  <p: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F2D46E-9FAA-42B6-B1C3-0C4D7C7A04D7}">
  <a:tblStyle styleId="{7EF2D46E-9FAA-42B6-B1C3-0C4D7C7A04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6020C0C-75BA-439F-A1B6-51F56B99F4E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46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13429734-668E-5551-3517-8C48D075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7C422A04-746A-5242-2E02-17084B6D1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AFC36731-F031-EEEA-6243-EEA49B707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538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71B07C5E-7918-1780-7E4D-6C41AAC1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E4982229-EC52-1EF3-786E-9FD0516C8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705C6EB7-E7F1-E461-D169-E60B3D869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046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FFCB175C-C5E5-5EF2-5BA1-F7C2BC93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FCE0F0A4-046C-EE20-9307-AF66CBB24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09344F7C-06D3-6E73-634B-12A09BFE8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470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1B439E62-7D18-439E-C945-433909A2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467F938F-B764-0D55-57E3-FA1B5C1DE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5ED8B08C-E491-F12D-8CF9-303ACFA8F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835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9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5442147" y="935670"/>
            <a:ext cx="3702964" cy="398630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349908" y="613226"/>
            <a:ext cx="6809408" cy="1069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Microcontroladores</a:t>
            </a:r>
            <a:endParaRPr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Aluno: Fabricio Batista Aguiar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Professor: Lennon Brandão</a:t>
            </a:r>
            <a:endParaRPr dirty="0"/>
          </a:p>
        </p:txBody>
      </p:sp>
      <p:pic>
        <p:nvPicPr>
          <p:cNvPr id="1026" name="Picture 2" descr="IoT DevKit - LoRaWAN">
            <a:extLst>
              <a:ext uri="{FF2B5EF4-FFF2-40B4-BE49-F238E27FC236}">
                <a16:creationId xmlns:a16="http://schemas.microsoft.com/office/drawing/2014/main" id="{99BC46CD-1110-6EE4-2EF2-244B24416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807" y="1481666"/>
            <a:ext cx="2887134" cy="288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55;p28">
            <a:extLst>
              <a:ext uri="{FF2B5EF4-FFF2-40B4-BE49-F238E27FC236}">
                <a16:creationId xmlns:a16="http://schemas.microsoft.com/office/drawing/2014/main" id="{341C327A-3F02-350B-1C75-7396B588763C}"/>
              </a:ext>
            </a:extLst>
          </p:cNvPr>
          <p:cNvSpPr txBox="1">
            <a:spLocks/>
          </p:cNvSpPr>
          <p:nvPr/>
        </p:nvSpPr>
        <p:spPr>
          <a:xfrm>
            <a:off x="349908" y="1029805"/>
            <a:ext cx="6809408" cy="1069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2800" dirty="0"/>
              <a:t>Terceiro desafio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Problemática</a:t>
            </a:r>
            <a:endParaRPr dirty="0"/>
          </a:p>
        </p:txBody>
      </p:sp>
      <p:sp>
        <p:nvSpPr>
          <p:cNvPr id="942" name="Google Shape;942;p29"/>
          <p:cNvSpPr txBox="1"/>
          <p:nvPr/>
        </p:nvSpPr>
        <p:spPr>
          <a:xfrm>
            <a:off x="720000" y="1063724"/>
            <a:ext cx="7704000" cy="15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200">
                <a:solidFill>
                  <a:schemeClr val="tx1"/>
                </a:solidFill>
                <a:latin typeface="Lato"/>
                <a:ea typeface="Lato"/>
                <a:cs typeface="Lato"/>
              </a:defRPr>
            </a:lvl1pPr>
          </a:lstStyle>
          <a:p>
            <a:pPr indent="449263"/>
            <a:r>
              <a:rPr lang="pt-BR" dirty="0"/>
              <a:t>Uma empresa de automação deseja desenvolver um módulo embarcado de baixo custo para monitoramento de condições operacionais em equipamentos de bancada. O sistema deverá adquirir dados de uma entrada analógica e uma entrada digital, processar essas informações e indicar o estado de operação localmente, além de disponibilizar dados via comunicação serial.</a:t>
            </a:r>
          </a:p>
          <a:p>
            <a:pPr indent="449263"/>
            <a:r>
              <a:rPr lang="pt-BR" dirty="0"/>
              <a:t>A lógica do sistema deverá classificar o estado de operação com base na variável analógica, dividindo-o em três condições: normal, atenção e alarme, cada uma representada por diferentes padrões de sinalização com LEDs.</a:t>
            </a:r>
          </a:p>
          <a:p>
            <a:pPr indent="449263"/>
            <a:r>
              <a:rPr lang="pt-BR" dirty="0"/>
              <a:t>A entrada digital deverá permitir interação com o sistema, como habilitar o monitoramento ou reconhecer estados de alarme. O sistema também deverá enviar periodicamente, via serial, os valores lidos e o estado atual. O projeto deve demonstrar o correto funcionamento da lógica proposta, bem como o uso adequado dos periféricos e a organização do firmware, evidenciando a compreensão da interação entre software e hardware em sistemas embarcados.</a:t>
            </a:r>
          </a:p>
        </p:txBody>
      </p:sp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C0459715-5EA6-B395-D7E0-3257EADD734B}"/>
              </a:ext>
            </a:extLst>
          </p:cNvPr>
          <p:cNvSpPr txBox="1"/>
          <p:nvPr/>
        </p:nvSpPr>
        <p:spPr>
          <a:xfrm>
            <a:off x="719999" y="3353685"/>
            <a:ext cx="7553143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Durante a reunião inicial, o cliente levantou os seguintes pontos: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Como requisitos iniciais, o sistema deverá ler uma entrada analógica e uma entrada digital;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Processar essas informações e indicar o estado de operação por meio de LEDs.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Além disso, deverá disponibilizar os dados via comunicação serial para acompanhamento externo.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 solução será implementada utilizando STM32 Blue </a:t>
            </a:r>
            <a:r>
              <a:rPr lang="pt-BR" sz="12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Pill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explorando periféricos como GPIO, ADC e UART. A lógica do sistema deverá classificar o estado de operação em três condições: normal, atenção e alarme, com diferentes padrões de sinalização.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 do Projeto</a:t>
            </a:r>
            <a:endParaRPr dirty="0"/>
          </a:p>
        </p:txBody>
      </p:sp>
      <p:sp>
        <p:nvSpPr>
          <p:cNvPr id="26" name="Google Shape;942;p29">
            <a:extLst>
              <a:ext uri="{FF2B5EF4-FFF2-40B4-BE49-F238E27FC236}">
                <a16:creationId xmlns:a16="http://schemas.microsoft.com/office/drawing/2014/main" id="{63EB3D04-5CE7-9F86-3102-B1F2ED116394}"/>
              </a:ext>
            </a:extLst>
          </p:cNvPr>
          <p:cNvSpPr txBox="1"/>
          <p:nvPr/>
        </p:nvSpPr>
        <p:spPr>
          <a:xfrm>
            <a:off x="720000" y="1063724"/>
            <a:ext cx="7704000" cy="2424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200">
                <a:solidFill>
                  <a:schemeClr val="tx1"/>
                </a:solidFill>
                <a:latin typeface="Lato"/>
                <a:ea typeface="Lato"/>
                <a:cs typeface="Lato"/>
              </a:defRPr>
            </a:lvl1pPr>
          </a:lstStyle>
          <a:p>
            <a:r>
              <a:rPr lang="pt-BR" dirty="0">
                <a:sym typeface="Lato"/>
              </a:rPr>
              <a:t>    </a:t>
            </a:r>
            <a:r>
              <a:rPr lang="pt-BR" dirty="0"/>
              <a:t>O projeto consiste no desenvolvimento de um sistema de avisos utilizando um STM32 Blue </a:t>
            </a:r>
            <a:r>
              <a:rPr lang="pt-BR" dirty="0" err="1"/>
              <a:t>Pill</a:t>
            </a:r>
            <a:r>
              <a:rPr lang="pt-BR" dirty="0"/>
              <a:t>, com o objetivo de fazer a leitura de um sinal e informar os níveis de normalidade, atenção e alarme. O sistema deve: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b="1" dirty="0"/>
              <a:t>Monitoramento em Tempo Real:</a:t>
            </a:r>
            <a:r>
              <a:rPr lang="pt-BR" dirty="0"/>
              <a:t> Aquisição contínua de sinais de uma entrada analógica e uma digital.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b="1" dirty="0"/>
              <a:t>Classificação de Estados:</a:t>
            </a:r>
            <a:r>
              <a:rPr lang="pt-BR" dirty="0"/>
              <a:t> Processamento lógico para dividir a operação em três níveis:</a:t>
            </a:r>
          </a:p>
          <a:p>
            <a:pPr marL="539750" indent="-171450">
              <a:buFont typeface="Wingdings" panose="05000000000000000000" pitchFamily="2" charset="2"/>
              <a:buChar char="§"/>
            </a:pPr>
            <a:r>
              <a:rPr lang="pt-BR" b="1" dirty="0"/>
              <a:t>Normal:</a:t>
            </a:r>
            <a:r>
              <a:rPr lang="pt-BR" dirty="0"/>
              <a:t> Operação padrão.</a:t>
            </a:r>
          </a:p>
          <a:p>
            <a:pPr marL="539750" indent="-171450">
              <a:buFont typeface="Wingdings" panose="05000000000000000000" pitchFamily="2" charset="2"/>
              <a:buChar char="§"/>
            </a:pPr>
            <a:r>
              <a:rPr lang="pt-BR" b="1" dirty="0"/>
              <a:t>Atenção:</a:t>
            </a:r>
            <a:r>
              <a:rPr lang="pt-BR" dirty="0"/>
              <a:t> Alerta preventivo.</a:t>
            </a:r>
          </a:p>
          <a:p>
            <a:pPr marL="539750" indent="-171450">
              <a:buFont typeface="Wingdings" panose="05000000000000000000" pitchFamily="2" charset="2"/>
              <a:buChar char="§"/>
            </a:pPr>
            <a:r>
              <a:rPr lang="pt-BR" b="1" dirty="0"/>
              <a:t>Alarme:</a:t>
            </a:r>
            <a:r>
              <a:rPr lang="pt-BR" dirty="0"/>
              <a:t> Condição crítica que exige intervenção.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b="1" dirty="0"/>
              <a:t>Interação com o Usuário:</a:t>
            </a:r>
            <a:r>
              <a:rPr lang="pt-BR" dirty="0"/>
              <a:t> Reconhecimento e reset de estados de alarme via entrada digital (botão).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b="1" dirty="0"/>
              <a:t>Log de Dados:</a:t>
            </a:r>
            <a:r>
              <a:rPr lang="pt-BR" dirty="0"/>
              <a:t> Envio periódico de informações (valores lidos e status) via comunicação serial.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dirty="0"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1333882" y="19221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Arquitetura de Hardware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243192" y="1589964"/>
            <a:ext cx="2140085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Para esse projeto, far-se-á necessário o uso dos seguintes componentes: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STM32 Blue Pill.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Resistor variável.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Botão de pressionar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LED’s (vermelho, amarelo e verde).</a:t>
            </a:r>
            <a:endParaRPr dirty="0"/>
          </a:p>
        </p:txBody>
      </p:sp>
      <p:sp>
        <p:nvSpPr>
          <p:cNvPr id="22" name="AutoShape 12" descr="Kit 10 X Micro Switch Botão Táctil 2 Pinos ZX Preto Arduino Projeto  Eletrônica">
            <a:extLst>
              <a:ext uri="{FF2B5EF4-FFF2-40B4-BE49-F238E27FC236}">
                <a16:creationId xmlns:a16="http://schemas.microsoft.com/office/drawing/2014/main" id="{9DECCFEA-153F-2F92-1104-3AC45C8513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369" y="22329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D4983C-F31D-D192-C69D-0AD5E0CF6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867" y="1199019"/>
            <a:ext cx="2940468" cy="1952471"/>
          </a:xfrm>
          <a:prstGeom prst="rect">
            <a:avLst/>
          </a:prstGeom>
        </p:spPr>
      </p:pic>
      <p:pic>
        <p:nvPicPr>
          <p:cNvPr id="2" name="Imagem 1" descr="POTENCIOMETRO LINEAR 1K - CURSOR METAL">
            <a:extLst>
              <a:ext uri="{FF2B5EF4-FFF2-40B4-BE49-F238E27FC236}">
                <a16:creationId xmlns:a16="http://schemas.microsoft.com/office/drawing/2014/main" id="{7F80D656-960F-FF98-1C00-3B9A80DF7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335" y="1199019"/>
            <a:ext cx="1954348" cy="1954348"/>
          </a:xfrm>
          <a:prstGeom prst="rect">
            <a:avLst/>
          </a:prstGeom>
        </p:spPr>
      </p:pic>
      <p:pic>
        <p:nvPicPr>
          <p:cNvPr id="3" name="Imagem 2" descr="Push Button (Chave Táctil) 6x6x5mm">
            <a:extLst>
              <a:ext uri="{FF2B5EF4-FFF2-40B4-BE49-F238E27FC236}">
                <a16:creationId xmlns:a16="http://schemas.microsoft.com/office/drawing/2014/main" id="{DDF8D6D4-472B-BC2D-D57D-9802A8FFA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8710" y="3150416"/>
            <a:ext cx="1954348" cy="195434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A56A69-3025-CF67-7674-6F4C32450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058" y="3151490"/>
            <a:ext cx="1906395" cy="1953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9;p30">
            <a:extLst>
              <a:ext uri="{FF2B5EF4-FFF2-40B4-BE49-F238E27FC236}">
                <a16:creationId xmlns:a16="http://schemas.microsoft.com/office/drawing/2014/main" id="{5ADA3C0C-E4B3-8966-8AA2-0679E2263069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dirty="0"/>
              <a:t>Desenho da Montagem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C04FCF2-29A6-FA76-6229-909FD0BB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46" y="1166787"/>
            <a:ext cx="7974409" cy="3422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9;p30">
            <a:extLst>
              <a:ext uri="{FF2B5EF4-FFF2-40B4-BE49-F238E27FC236}">
                <a16:creationId xmlns:a16="http://schemas.microsoft.com/office/drawing/2014/main" id="{D2B3EEE6-787F-D300-F4EB-1A71DE87B911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236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3000" dirty="0"/>
              <a:t>Máquina de Estados do Firmware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F0CCCC-1972-9000-9108-FF632D6CB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476" y="280251"/>
            <a:ext cx="4174684" cy="47443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AC604E4C-60D5-8583-AA09-FA9B7977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EB135A5F-7313-EE30-1924-97D316C9FC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 Arduino IDE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F5951AB0-6517-319D-9707-FEFF568942A1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38E31D5E-1698-ABAA-DD64-B3B6CF51E93F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E7604A24-8EF6-8112-AAEB-C6ED7F2497BA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6F06C05E-BC6D-E9DB-541C-7115E7D9C23C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C59CE3F5-D0A5-2C2E-3425-543DE88E3FB4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E364FB6B-658E-2A8D-DA06-482644F09E41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BDA0114C-CC5F-6167-B01F-E5F91DBD1CEC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131BDB28-7903-0070-F92A-A5F01222A148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AF77E8DC-E8DC-F421-6062-4AD09CC8EBD7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E76CD4D9-113F-A296-C594-4602B666F734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83B98751-1C26-F8D4-A5B8-E5B0DD06D823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0587E45B-E6BB-61B1-9D07-84DCA5225D3D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040AF9EA-761B-214C-C03D-2AE17E8596EC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81EB3654-3681-EB12-2225-F2F04966554F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197A36AA-F229-C3D6-333E-F6C63AA46F46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E77B1EDD-2D6C-C9E5-0CE1-9D56DE4BEE51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" name="Google Shape;942;p29">
            <a:extLst>
              <a:ext uri="{FF2B5EF4-FFF2-40B4-BE49-F238E27FC236}">
                <a16:creationId xmlns:a16="http://schemas.microsoft.com/office/drawing/2014/main" id="{D37B3BA0-BEDE-6CBA-949D-5FD6FF772BBA}"/>
              </a:ext>
            </a:extLst>
          </p:cNvPr>
          <p:cNvSpPr txBox="1"/>
          <p:nvPr/>
        </p:nvSpPr>
        <p:spPr>
          <a:xfrm>
            <a:off x="236338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Configuração para enviar código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ABE6198-C954-DBB1-B878-703DB728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8" y="1776932"/>
            <a:ext cx="3875962" cy="23967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9871AA5-B262-C302-8A9D-5040922A2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991" y="1512815"/>
            <a:ext cx="4429771" cy="3389897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F58B3C2-19CD-AE05-02DC-2E2A4FDEE481}"/>
              </a:ext>
            </a:extLst>
          </p:cNvPr>
          <p:cNvCxnSpPr/>
          <p:nvPr/>
        </p:nvCxnSpPr>
        <p:spPr>
          <a:xfrm>
            <a:off x="4441031" y="2838450"/>
            <a:ext cx="130730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FDB8606-F13B-2634-197C-88B32475E263}"/>
              </a:ext>
            </a:extLst>
          </p:cNvPr>
          <p:cNvCxnSpPr/>
          <p:nvPr/>
        </p:nvCxnSpPr>
        <p:spPr>
          <a:xfrm>
            <a:off x="4441030" y="3688775"/>
            <a:ext cx="130730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6849A4-9FAA-7023-23C9-224243CB937D}"/>
              </a:ext>
            </a:extLst>
          </p:cNvPr>
          <p:cNvCxnSpPr>
            <a:cxnSpLocks/>
          </p:cNvCxnSpPr>
          <p:nvPr/>
        </p:nvCxnSpPr>
        <p:spPr>
          <a:xfrm>
            <a:off x="1332071" y="3745230"/>
            <a:ext cx="197500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 Arduino IDE</a:t>
            </a:r>
            <a:endParaRPr dirty="0"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" name="Google Shape;942;p29">
            <a:extLst>
              <a:ext uri="{FF2B5EF4-FFF2-40B4-BE49-F238E27FC236}">
                <a16:creationId xmlns:a16="http://schemas.microsoft.com/office/drawing/2014/main" id="{C8E436BA-C103-F486-41D6-3C6254C3AA66}"/>
              </a:ext>
            </a:extLst>
          </p:cNvPr>
          <p:cNvSpPr txBox="1"/>
          <p:nvPr/>
        </p:nvSpPr>
        <p:spPr>
          <a:xfrm>
            <a:off x="615497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Declarando variáveis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5CCB582-BBC6-AAFF-F44C-E7930F6AB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97" y="1549303"/>
            <a:ext cx="2172003" cy="1638529"/>
          </a:xfrm>
          <a:prstGeom prst="rect">
            <a:avLst/>
          </a:prstGeom>
        </p:spPr>
      </p:pic>
      <p:sp>
        <p:nvSpPr>
          <p:cNvPr id="4" name="Google Shape;942;p29">
            <a:extLst>
              <a:ext uri="{FF2B5EF4-FFF2-40B4-BE49-F238E27FC236}">
                <a16:creationId xmlns:a16="http://schemas.microsoft.com/office/drawing/2014/main" id="{B6153CA0-E27C-C115-2F29-9301A4F18729}"/>
              </a:ext>
            </a:extLst>
          </p:cNvPr>
          <p:cNvSpPr txBox="1"/>
          <p:nvPr/>
        </p:nvSpPr>
        <p:spPr>
          <a:xfrm>
            <a:off x="3692674" y="1770953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Setup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80948B-C90C-833E-DE2C-58F2D29CA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336" y="2069052"/>
            <a:ext cx="2739551" cy="1638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7AF8C49D-221A-9E8C-A5E8-E1A32C1F9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D11B0B94-628E-C523-871E-1717A54D06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 Arduino IDE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D08E898D-CB37-AFEC-4DC6-D56DBB58994B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800767CB-E689-F436-154C-6BBB96C9D59A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44B5E8FB-4D60-4D04-A4C9-CC840F657CD4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5B2618B5-82A8-B14D-CEDA-F46BED32D988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0DDF7D6B-D7EA-E23C-5BC4-0C067B9C802E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902D0472-6335-80A8-97C3-3C7629AA722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69E6EE4A-5115-BDAA-B978-0202B313CDA3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FDCDF651-BD36-81FE-535C-844E0F20BE41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9426F760-3726-CEE0-4D72-5E41423003BB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843A4F25-DD54-07A1-099C-EC822F31BB79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DA35F621-0C40-04EF-BF49-1AFE9261F608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BB49FB20-B2E6-C321-545A-4F153E2C6BC8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6E423A2E-5ECC-2AD3-1C72-49356A350F88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0367CCFA-4F11-D065-E913-2FDD285A91E0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73DD584B-D748-7B0A-4CC6-743BD6EAD4AC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2B187C1D-499F-7E35-7FDD-48C39CFC00DA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" name="Google Shape;942;p29">
            <a:extLst>
              <a:ext uri="{FF2B5EF4-FFF2-40B4-BE49-F238E27FC236}">
                <a16:creationId xmlns:a16="http://schemas.microsoft.com/office/drawing/2014/main" id="{BD637D0B-354E-914F-A11B-3C680D86AFA3}"/>
              </a:ext>
            </a:extLst>
          </p:cNvPr>
          <p:cNvSpPr txBox="1"/>
          <p:nvPr/>
        </p:nvSpPr>
        <p:spPr>
          <a:xfrm>
            <a:off x="236338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Loop – Parte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CC20AE-C9EF-1F46-0142-F26B86183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27" y="1216772"/>
            <a:ext cx="2965408" cy="373277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CEE132A-AA93-D5EC-B7A6-B8E93D23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62099"/>
            <a:ext cx="4334488" cy="2887446"/>
          </a:xfrm>
          <a:prstGeom prst="rect">
            <a:avLst/>
          </a:prstGeom>
        </p:spPr>
      </p:pic>
      <p:sp>
        <p:nvSpPr>
          <p:cNvPr id="10" name="Google Shape;942;p29">
            <a:extLst>
              <a:ext uri="{FF2B5EF4-FFF2-40B4-BE49-F238E27FC236}">
                <a16:creationId xmlns:a16="http://schemas.microsoft.com/office/drawing/2014/main" id="{1945F06D-BB20-A026-D3C5-8F939754BE7B}"/>
              </a:ext>
            </a:extLst>
          </p:cNvPr>
          <p:cNvSpPr txBox="1"/>
          <p:nvPr/>
        </p:nvSpPr>
        <p:spPr>
          <a:xfrm>
            <a:off x="4572000" y="1758150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Loop – Parte 2</a:t>
            </a:r>
          </a:p>
        </p:txBody>
      </p:sp>
    </p:spTree>
    <p:extLst>
      <p:ext uri="{BB962C8B-B14F-4D97-AF65-F5344CB8AC3E}">
        <p14:creationId xmlns:p14="http://schemas.microsoft.com/office/powerpoint/2010/main" val="101725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BCFD1512-0146-95B4-E211-D1105903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BA1CF70B-D467-AC4B-BC19-F881CDA6B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 STM Cube IDE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88A8EEFC-C16F-19F9-6DB2-5A5B0E9CF4B9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ED383363-5CFF-522D-B1DB-A39F03A2CDAF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DBEDE767-5D16-3E67-6FA2-A17D690ADC13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38FB350F-D2A5-0D89-F2D1-EEEAA49BC8C9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F705FF7C-A82F-0D82-B9C1-15EE0DD8ED56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91E2493F-06B7-F480-6C29-39C3BBC6E6B9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8B3D2D7B-7D12-877D-956B-41C14ECF3B5D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7F168400-B493-2BB0-9DCF-91B342D5444C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4A64FFC2-8015-ED15-6CCB-63D50C7ADC84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077FE82C-0E09-7FE9-97B8-1A97D3E0DD50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B121B85C-B2F1-8FBE-7D2C-FEEB2B948268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752E0003-A4E4-338B-8AC5-DBB709786D22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F89B4FCE-5C2B-622D-99C0-882F084684D4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4FA116C2-4945-14EC-CA78-942119F195AD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7035362B-7907-B72F-F35E-CA1DF2A86184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2D10A772-AFE5-B90E-786D-1BF1C71BE384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" name="Google Shape;942;p29">
            <a:extLst>
              <a:ext uri="{FF2B5EF4-FFF2-40B4-BE49-F238E27FC236}">
                <a16:creationId xmlns:a16="http://schemas.microsoft.com/office/drawing/2014/main" id="{79FCC47F-3202-A049-1E1B-E47A881F49EB}"/>
              </a:ext>
            </a:extLst>
          </p:cNvPr>
          <p:cNvSpPr txBox="1"/>
          <p:nvPr/>
        </p:nvSpPr>
        <p:spPr>
          <a:xfrm>
            <a:off x="615497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Configurando no STM32CubeMX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B779585-0477-F5FA-4548-37FBF7BB4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00" y="1582712"/>
            <a:ext cx="6268933" cy="334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ACEAFE8C-94EE-6885-D588-944BF959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AAE503BF-2E3A-8C7A-7640-62AD78CC1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CA2DEFBE-24EE-535C-C204-3F9D53B3011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675" y="1134427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" dirty="0"/>
              <a:t>Disponível na Plataforma GitHub por meio do link: &lt;</a:t>
            </a:r>
            <a:r>
              <a:rPr lang="pt-BR" dirty="0"/>
              <a:t>https://github.com/Fabricio-Aguiar-23/Microcontroladores.git</a:t>
            </a:r>
            <a:r>
              <a:rPr lang="en" dirty="0"/>
              <a:t>&gt;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35135136-AA14-4275-C61E-220F3C6B9AAA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F07E7599-4A25-2C0C-87A6-820BFA50CEF2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A3510010-6344-5C53-C6F8-E1A820C33685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CA657D6D-5B7E-ADE9-4474-2A2C0D5AFE7A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F8F92CFD-31B9-07CA-48A1-94DD456A9244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55C8740D-B2F8-37EB-DF23-8177FD55C682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A7A992AF-DED5-16F8-D503-D3D432787BD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8ABFED4B-C24C-3A40-E028-92881FBE9D64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5A808AB0-C1D2-C4C5-DB09-175EB7F905CB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35AAA4F9-C7F1-269F-E448-715BDD33EDC4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3F72D410-A2E8-1133-8349-3897DCD77201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2F010897-B54B-E2EB-7AAB-AAD07B9BEB65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CB429E33-6E11-070F-BAF8-F93CF8252932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C994CD39-767D-C778-C380-5D87AC44FD4D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A3EFEE9F-82BA-6CCA-C051-7CC429F98C94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16068917-AA82-08B4-FB4A-98141512303F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7A6864F2-0749-A196-331E-7714222AF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242" y="2022540"/>
            <a:ext cx="2108984" cy="21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00369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512</Words>
  <Application>Microsoft Office PowerPoint</Application>
  <PresentationFormat>Apresentação na tela (16:9)</PresentationFormat>
  <Paragraphs>42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Wingdings</vt:lpstr>
      <vt:lpstr>Calibri</vt:lpstr>
      <vt:lpstr>Epilogue</vt:lpstr>
      <vt:lpstr>Arial</vt:lpstr>
      <vt:lpstr>Raleway</vt:lpstr>
      <vt:lpstr>Nunito Light</vt:lpstr>
      <vt:lpstr>Lato</vt:lpstr>
      <vt:lpstr>Multimedia Software Pitch Deck by Slidesgo</vt:lpstr>
      <vt:lpstr>Microcontroladores</vt:lpstr>
      <vt:lpstr>Problemática</vt:lpstr>
      <vt:lpstr>Requisitos do Projeto</vt:lpstr>
      <vt:lpstr>Arquitetura de Hardware</vt:lpstr>
      <vt:lpstr>Apresentação do PowerPoint</vt:lpstr>
      <vt:lpstr>Apresentação do PowerPoint</vt:lpstr>
      <vt:lpstr>Código Fonte Arduino IDE</vt:lpstr>
      <vt:lpstr>Código Fonte Arduino IDE</vt:lpstr>
      <vt:lpstr>Código Fonte Arduino IDE</vt:lpstr>
      <vt:lpstr>Código Fonte STM Cube IDE</vt:lpstr>
      <vt:lpstr>Código Fonte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Fabricio Aguiar</dc:creator>
  <cp:lastModifiedBy>Fabricio Aguiar</cp:lastModifiedBy>
  <cp:revision>11</cp:revision>
  <dcterms:modified xsi:type="dcterms:W3CDTF">2026-04-28T22:15:39Z</dcterms:modified>
</cp:coreProperties>
</file>